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2" r:id="rId5"/>
    <p:sldId id="265" r:id="rId6"/>
    <p:sldId id="259" r:id="rId7"/>
    <p:sldId id="260" r:id="rId8"/>
    <p:sldId id="264" r:id="rId9"/>
    <p:sldId id="263" r:id="rId10"/>
    <p:sldId id="261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B0B0"/>
    <a:srgbClr val="B7E5E7"/>
    <a:srgbClr val="5F5F5F"/>
    <a:srgbClr val="E1DEF6"/>
    <a:srgbClr val="663300"/>
    <a:srgbClr val="FFDDFF"/>
    <a:srgbClr val="FEDDDA"/>
    <a:srgbClr val="FFF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6480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6DD40-FD41-CDE4-9A91-E769EC7EF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51BEAC-2B8D-EB31-EAA3-DCC743AF7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6D72A5-56AE-F9E5-2F61-544FF605E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AF881-6DF1-A18B-0818-C4F7367F13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35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53E95-A051-C647-72F9-D10185A3A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81FBCA-8FC2-D3C8-6E0C-99169B0CA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CA6097-963A-F137-8252-3B58EC797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18573A-455E-D5AF-6561-DB48737870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3183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D847D-773B-2308-B90D-206D6BEA2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36821-FB13-6696-CB62-632ADFA7BE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7FBE76-B16C-C046-D888-DFA669CE14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6F18C-8E9D-7F4B-AA8D-ED0FCEB673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6008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14CBC-0C3D-0FCA-16B5-690FCF07E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C35991-80F6-FBF3-E64F-06D245992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2C0EA2-A797-6C49-CA5D-D6EC45ED4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F2E62-D180-1C37-1558-5414B1505C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6905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38560" cy="18288"/>
          </a:xfrm>
          <a:prstGeom prst="rect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 Safety for Parents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10972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597"/>
                </a:solidFill>
              </a:rPr>
              <a:t>Prepared for family awareness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C859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C859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914400"/>
            <a:ext cx="1088136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3288145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19212E"/>
                </a:solidFill>
                <a:latin typeface="Bahnschrift" panose="020B0502040204020203" pitchFamily="34" charset="0"/>
              </a:rPr>
              <a:t>Everything on Social Media is Safe</a:t>
            </a:r>
            <a:endParaRPr lang="en-US" sz="5800" dirty="0">
              <a:latin typeface="Bahnschrift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5047341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B5567"/>
                </a:solidFill>
              </a:rPr>
              <a:t>A simple guide for parents on phishing, fake pages, suspicious ads, and dangerous links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06640" y="1508760"/>
            <a:ext cx="3227832" cy="1920240"/>
          </a:xfrm>
          <a:prstGeom prst="roundRect">
            <a:avLst>
              <a:gd name="adj" fmla="val 5714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71232" y="1636776"/>
            <a:ext cx="2734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77"/>
                </a:solidFill>
              </a:rPr>
              <a:t>Main idea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71232" y="1929384"/>
            <a:ext cx="2734056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53042"/>
                </a:solidFill>
              </a:rPr>
              <a:t>Not everything online is genuine. Some pages, ads, and links are designed to trick people into clicking, sharing details, or installing harmful software.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06640" y="3657600"/>
            <a:ext cx="3227832" cy="1645920"/>
          </a:xfrm>
          <a:prstGeom prst="roundRect">
            <a:avLst>
              <a:gd name="adj" fmla="val 6667"/>
            </a:avLst>
          </a:prstGeom>
          <a:solidFill>
            <a:srgbClr val="F7F1FF"/>
          </a:solidFill>
          <a:ln w="12700">
            <a:solidFill>
              <a:srgbClr val="F7F1FF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71232" y="3785616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77"/>
                </a:solidFill>
              </a:rPr>
              <a:t>What this presentation covers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71232" y="4078224"/>
            <a:ext cx="2734056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53042"/>
                </a:solidFill>
              </a:rPr>
              <a:t>• What phishing means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53042"/>
                </a:solidFill>
              </a:rPr>
              <a:t>• Common warning signs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53042"/>
                </a:solidFill>
              </a:rPr>
              <a:t>• Real examples from social media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53042"/>
                </a:solidFill>
              </a:rPr>
              <a:t>• Simple steps to stay safe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C859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F63BCE-657B-EDFC-1234-35F97AC0273E}"/>
              </a:ext>
            </a:extLst>
          </p:cNvPr>
          <p:cNvSpPr txBox="1"/>
          <p:nvPr/>
        </p:nvSpPr>
        <p:spPr>
          <a:xfrm>
            <a:off x="914400" y="813395"/>
            <a:ext cx="354676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0" b="1" dirty="0">
                <a:solidFill>
                  <a:srgbClr val="FF0000"/>
                </a:solidFill>
                <a:latin typeface="AMCAP Eternal" panose="02000503030000020004" pitchFamily="2" charset="0"/>
              </a:rPr>
              <a:t>Not</a:t>
            </a:r>
            <a:endParaRPr lang="en-US" sz="115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D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1. What is phishing?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5"/>
                </a:solidFill>
              </a:rPr>
              <a:t>A very common online trick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640080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11455" indent="-211455">
              <a:buSzPct val="100000"/>
              <a:buChar char="•"/>
            </a:pPr>
            <a:r>
              <a:rPr lang="en-US" sz="1850" dirty="0">
                <a:solidFill>
                  <a:srgbClr val="253042"/>
                </a:solidFill>
              </a:rPr>
              <a:t>Phishing is when someone pretends to be trustworthy so that people click a link, open a message, give personal details, or download something harmful.</a:t>
            </a:r>
          </a:p>
          <a:p>
            <a:pPr>
              <a:buSzPct val="100000"/>
            </a:pPr>
            <a:endParaRPr lang="en-US" sz="1850" dirty="0"/>
          </a:p>
          <a:p>
            <a:pPr marL="211455" indent="-211455">
              <a:buSzPct val="100000"/>
              <a:buChar char="•"/>
            </a:pPr>
            <a:r>
              <a:rPr lang="en-US" sz="1850" dirty="0">
                <a:solidFill>
                  <a:srgbClr val="253042"/>
                </a:solidFill>
              </a:rPr>
              <a:t>The source may look real: a known page, a familiar person, an ad, a comment, or a message.</a:t>
            </a:r>
          </a:p>
          <a:p>
            <a:pPr>
              <a:buSzPct val="100000"/>
            </a:pPr>
            <a:endParaRPr lang="en-US" sz="1850" dirty="0"/>
          </a:p>
          <a:p>
            <a:pPr marL="211455" indent="-211455">
              <a:buSzPct val="100000"/>
              <a:buChar char="•"/>
            </a:pPr>
            <a:r>
              <a:rPr lang="en-US" sz="1850" dirty="0">
                <a:solidFill>
                  <a:srgbClr val="253042"/>
                </a:solidFill>
              </a:rPr>
              <a:t>But the real goal is often to steal information, install malware, or take control of an account or device.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7635240" y="1828800"/>
            <a:ext cx="2834640" cy="1920240"/>
          </a:xfrm>
          <a:prstGeom prst="roundRect">
            <a:avLst>
              <a:gd name="adj" fmla="val 5714"/>
            </a:avLst>
          </a:prstGeom>
          <a:solidFill>
            <a:srgbClr val="FFF4E8"/>
          </a:solidFill>
          <a:ln w="12700">
            <a:solidFill>
              <a:srgbClr val="FFF4E8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99832" y="195681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77"/>
                </a:solidFill>
              </a:rPr>
              <a:t>Simple example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99832" y="2249424"/>
            <a:ext cx="2505456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53042"/>
                </a:solidFill>
              </a:rPr>
              <a:t>“Read more in this link”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53042"/>
                </a:solidFill>
              </a:rPr>
              <a:t>“Claim your prize here”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53042"/>
                </a:solidFill>
              </a:rPr>
              <a:t>“Urgent account issue — click now”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635240" y="397764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EAF8EE"/>
          </a:solidFill>
          <a:ln w="12700">
            <a:solidFill>
              <a:srgbClr val="EAF8EE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99832" y="410565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77"/>
                </a:solidFill>
              </a:rPr>
              <a:t>Why it works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99832" y="4398264"/>
            <a:ext cx="250545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53042"/>
                </a:solidFill>
              </a:rPr>
              <a:t>It uses curiosity, urgency, fear, or excitement to make people click quickly without checking first.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C859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 Warning signs to notice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5"/>
                </a:solidFill>
              </a:rPr>
              <a:t>Small clues can reveal a trap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649224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253042"/>
                </a:solidFill>
              </a:rPr>
              <a:t>A page or ad looks “official” but has a strange name, weak profile details, poor spelling, or odd-looking links.</a:t>
            </a:r>
          </a:p>
          <a:p>
            <a:pPr>
              <a:buSzPct val="100000"/>
            </a:pP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253042"/>
                </a:solidFill>
              </a:rPr>
              <a:t>A post tells people to get “full information” from a comment link instead of a trusted news or company website.</a:t>
            </a:r>
          </a:p>
          <a:p>
            <a:pPr>
              <a:buSzPct val="100000"/>
            </a:pP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253042"/>
                </a:solidFill>
              </a:rPr>
              <a:t>The message pushes you to act quickly before thinking: “limited time”, “urgent”, or “only today”.</a:t>
            </a:r>
          </a:p>
          <a:p>
            <a:pPr>
              <a:buSzPct val="100000"/>
            </a:pP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253042"/>
                </a:solidFill>
              </a:rPr>
              <a:t>Even a blue tick is not enough by itself. It does not automatically mean the page is honest or safe.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50762" y="2011680"/>
            <a:ext cx="3063240" cy="219456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15354" y="2139696"/>
            <a:ext cx="2734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77"/>
                </a:solidFill>
              </a:rPr>
              <a:t>Important reminder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15354" y="2432304"/>
            <a:ext cx="2734056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53042"/>
                </a:solidFill>
              </a:rPr>
              <a:t>Trust the full picture, not just one sign. Check the page name, profile photo, link style, writing quality, and whether the information also appears on a reliable website.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C859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692908-1AC0-8891-8EB6-30B19B19D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5EC988D-99DE-1FCC-AD66-0944483291D2}"/>
              </a:ext>
            </a:extLst>
          </p:cNvPr>
          <p:cNvSpPr/>
          <p:nvPr/>
        </p:nvSpPr>
        <p:spPr>
          <a:xfrm>
            <a:off x="640080" y="640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 Some Examples of Phishing on Social Media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AB0A436-87B3-44D0-485F-032CAEBFDE01}"/>
              </a:ext>
            </a:extLst>
          </p:cNvPr>
          <p:cNvSpPr/>
          <p:nvPr/>
        </p:nvSpPr>
        <p:spPr>
          <a:xfrm>
            <a:off x="2354333" y="6182345"/>
            <a:ext cx="1439604" cy="457200"/>
          </a:xfrm>
          <a:prstGeom prst="roundRect">
            <a:avLst>
              <a:gd name="adj" fmla="val 50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EEF5FF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F6AF729-6F75-AAA9-64DB-AE6D723F56AB}"/>
              </a:ext>
            </a:extLst>
          </p:cNvPr>
          <p:cNvSpPr/>
          <p:nvPr/>
        </p:nvSpPr>
        <p:spPr>
          <a:xfrm>
            <a:off x="2505640" y="6282929"/>
            <a:ext cx="113699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77"/>
                </a:solidFill>
              </a:rPr>
              <a:t>Example 1</a:t>
            </a:r>
            <a:endParaRPr lang="en-US" sz="16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51DB071-AB54-4963-028E-007049844D6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59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026" name="Picture 2" descr="Spammers use bogus video links in Facebook comments">
            <a:extLst>
              <a:ext uri="{FF2B5EF4-FFF2-40B4-BE49-F238E27FC236}">
                <a16:creationId xmlns:a16="http://schemas.microsoft.com/office/drawing/2014/main" id="{4D075E2C-A939-FA0F-E810-E49961499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62" y="1820657"/>
            <a:ext cx="4634747" cy="3961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on’t fall for this sneaky notification that’s fooling people on Facebook  and Instagram">
            <a:extLst>
              <a:ext uri="{FF2B5EF4-FFF2-40B4-BE49-F238E27FC236}">
                <a16:creationId xmlns:a16="http://schemas.microsoft.com/office/drawing/2014/main" id="{67397D5E-C815-9433-49AB-FEE39E4F6E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8" r="18760"/>
          <a:stretch>
            <a:fillRect/>
          </a:stretch>
        </p:blipFill>
        <p:spPr bwMode="auto">
          <a:xfrm>
            <a:off x="6219645" y="1210427"/>
            <a:ext cx="5097055" cy="4571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hape 3">
            <a:extLst>
              <a:ext uri="{FF2B5EF4-FFF2-40B4-BE49-F238E27FC236}">
                <a16:creationId xmlns:a16="http://schemas.microsoft.com/office/drawing/2014/main" id="{4CD4487C-3A12-DC8E-9033-ADAEAAC1576B}"/>
              </a:ext>
            </a:extLst>
          </p:cNvPr>
          <p:cNvSpPr/>
          <p:nvPr/>
        </p:nvSpPr>
        <p:spPr>
          <a:xfrm>
            <a:off x="7966998" y="6182345"/>
            <a:ext cx="1439604" cy="457200"/>
          </a:xfrm>
          <a:prstGeom prst="roundRect">
            <a:avLst>
              <a:gd name="adj" fmla="val 50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EEF5FF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003BA748-FF9D-404E-70EA-82111ED08CF7}"/>
              </a:ext>
            </a:extLst>
          </p:cNvPr>
          <p:cNvSpPr/>
          <p:nvPr/>
        </p:nvSpPr>
        <p:spPr>
          <a:xfrm>
            <a:off x="8118305" y="6282929"/>
            <a:ext cx="113699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77"/>
                </a:solidFill>
              </a:rPr>
              <a:t>Example 2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00077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C7B355-6E31-A604-37C5-9E48647C5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969299-D612-2F56-9900-4F614DDF7395}"/>
              </a:ext>
            </a:extLst>
          </p:cNvPr>
          <p:cNvSpPr/>
          <p:nvPr/>
        </p:nvSpPr>
        <p:spPr>
          <a:xfrm>
            <a:off x="640080" y="630843"/>
            <a:ext cx="8046720" cy="894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 My Personal Experience of a 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    Possible Trap</a:t>
            </a:r>
            <a:endParaRPr lang="en-US" sz="28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062DD0E-21B8-ADA1-E6ED-2651A96F302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C859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5C2684-EFF4-AE22-CED0-15BDFA962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903" y="679588"/>
            <a:ext cx="4680155" cy="5868874"/>
          </a:xfrm>
          <a:prstGeom prst="rect">
            <a:avLst/>
          </a:prstGeom>
        </p:spPr>
      </p:pic>
      <p:sp>
        <p:nvSpPr>
          <p:cNvPr id="11" name="Shape 3">
            <a:extLst>
              <a:ext uri="{FF2B5EF4-FFF2-40B4-BE49-F238E27FC236}">
                <a16:creationId xmlns:a16="http://schemas.microsoft.com/office/drawing/2014/main" id="{4668FB30-EE1B-ADDC-93BD-FE20DD8CC1E2}"/>
              </a:ext>
            </a:extLst>
          </p:cNvPr>
          <p:cNvSpPr/>
          <p:nvPr/>
        </p:nvSpPr>
        <p:spPr>
          <a:xfrm>
            <a:off x="307571" y="1679093"/>
            <a:ext cx="6739172" cy="1156715"/>
          </a:xfrm>
          <a:prstGeom prst="roundRect">
            <a:avLst>
              <a:gd name="adj" fmla="val 7273"/>
            </a:avLst>
          </a:prstGeom>
          <a:solidFill>
            <a:srgbClr val="EAF8EE"/>
          </a:solidFill>
          <a:ln w="12700">
            <a:solidFill>
              <a:srgbClr val="EAF8EE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D894A168-9036-39AD-1645-9462AA6494A1}"/>
              </a:ext>
            </a:extLst>
          </p:cNvPr>
          <p:cNvSpPr/>
          <p:nvPr/>
        </p:nvSpPr>
        <p:spPr>
          <a:xfrm>
            <a:off x="472163" y="1807110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77"/>
                </a:solidFill>
              </a:rPr>
              <a:t>What happened</a:t>
            </a:r>
            <a:endParaRPr lang="en-US" sz="16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48DE10E8-0CB2-C26B-0C78-5F58FA1B7AD3}"/>
              </a:ext>
            </a:extLst>
          </p:cNvPr>
          <p:cNvSpPr/>
          <p:nvPr/>
        </p:nvSpPr>
        <p:spPr>
          <a:xfrm>
            <a:off x="460756" y="1839112"/>
            <a:ext cx="6279620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253042"/>
                </a:solidFill>
              </a:rPr>
              <a:t>Before coming to Australia, I was searching for a rental place in Perth.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253042"/>
                </a:solidFill>
              </a:rPr>
              <a:t>I posted in a Facebook rental group because I had no one known there.</a:t>
            </a:r>
            <a:endParaRPr lang="en-US" sz="155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24059DDB-1A2D-DB42-AED9-F7DFE9A741C0}"/>
              </a:ext>
            </a:extLst>
          </p:cNvPr>
          <p:cNvSpPr/>
          <p:nvPr/>
        </p:nvSpPr>
        <p:spPr>
          <a:xfrm>
            <a:off x="307570" y="2926960"/>
            <a:ext cx="6739173" cy="1156716"/>
          </a:xfrm>
          <a:prstGeom prst="roundRect">
            <a:avLst>
              <a:gd name="adj" fmla="val 8889"/>
            </a:avLst>
          </a:prstGeom>
          <a:solidFill>
            <a:srgbClr val="FFF4E8"/>
          </a:solidFill>
          <a:ln w="12700">
            <a:solidFill>
              <a:srgbClr val="FFF4E8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4A488C47-EC3E-603F-26EB-4FD6307605E1}"/>
              </a:ext>
            </a:extLst>
          </p:cNvPr>
          <p:cNvSpPr/>
          <p:nvPr/>
        </p:nvSpPr>
        <p:spPr>
          <a:xfrm>
            <a:off x="472163" y="3054976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77"/>
                </a:solidFill>
              </a:rPr>
              <a:t>What I noticed</a:t>
            </a:r>
            <a:endParaRPr lang="en-US" sz="16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9342A49F-4696-F01E-EE1C-5073C8922AA3}"/>
              </a:ext>
            </a:extLst>
          </p:cNvPr>
          <p:cNvSpPr/>
          <p:nvPr/>
        </p:nvSpPr>
        <p:spPr>
          <a:xfrm>
            <a:off x="460756" y="3202638"/>
            <a:ext cx="6279620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253042"/>
                </a:solidFill>
              </a:rPr>
              <a:t>Instead of genuine replies, many suspicious accounts responded.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253042"/>
                </a:solidFill>
              </a:rPr>
              <a:t>They kept sending random links and urging me to click.</a:t>
            </a:r>
            <a:endParaRPr lang="en-US" sz="1550" dirty="0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00C23CDD-0A54-7BB2-D52B-DCC515852239}"/>
              </a:ext>
            </a:extLst>
          </p:cNvPr>
          <p:cNvSpPr/>
          <p:nvPr/>
        </p:nvSpPr>
        <p:spPr>
          <a:xfrm>
            <a:off x="296163" y="4179689"/>
            <a:ext cx="6750581" cy="1156715"/>
          </a:xfrm>
          <a:prstGeom prst="roundRect">
            <a:avLst>
              <a:gd name="adj" fmla="val 727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EAF8EE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B8FE537A-8F09-2F2C-FE96-88BF642EB570}"/>
              </a:ext>
            </a:extLst>
          </p:cNvPr>
          <p:cNvSpPr/>
          <p:nvPr/>
        </p:nvSpPr>
        <p:spPr>
          <a:xfrm>
            <a:off x="460756" y="4307706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77"/>
                </a:solidFill>
              </a:rPr>
              <a:t>Why it felt suspicious</a:t>
            </a:r>
            <a:endParaRPr lang="en-US" sz="160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C72DE07F-2976-2D08-23F0-86698032F03F}"/>
              </a:ext>
            </a:extLst>
          </p:cNvPr>
          <p:cNvSpPr/>
          <p:nvPr/>
        </p:nvSpPr>
        <p:spPr>
          <a:xfrm>
            <a:off x="460756" y="4417809"/>
            <a:ext cx="6279620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/>
              <a:t>Some names looked strange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/>
              <a:t>Some names looked normal but still felt untrustworthy.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/>
              <a:t>The offers looked too good to be true and overenthusiastic.</a:t>
            </a:r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E41D5B15-EBD1-FD90-6B66-1E041EBF4BF7}"/>
              </a:ext>
            </a:extLst>
          </p:cNvPr>
          <p:cNvSpPr/>
          <p:nvPr/>
        </p:nvSpPr>
        <p:spPr>
          <a:xfrm>
            <a:off x="296164" y="5445252"/>
            <a:ext cx="6750582" cy="1156716"/>
          </a:xfrm>
          <a:prstGeom prst="roundRect">
            <a:avLst>
              <a:gd name="adj" fmla="val 8889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rgbClr val="FFF4E8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AB6016DF-A7B5-4905-CCDE-708DCCB25AA3}"/>
              </a:ext>
            </a:extLst>
          </p:cNvPr>
          <p:cNvSpPr/>
          <p:nvPr/>
        </p:nvSpPr>
        <p:spPr>
          <a:xfrm>
            <a:off x="460756" y="5573268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77"/>
                </a:solidFill>
              </a:rPr>
              <a:t>What I learned</a:t>
            </a:r>
            <a:endParaRPr lang="en-US" sz="1600" dirty="0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FAAAFA6C-BD2E-9E50-8FB7-8E8F36F5836F}"/>
              </a:ext>
            </a:extLst>
          </p:cNvPr>
          <p:cNvSpPr/>
          <p:nvPr/>
        </p:nvSpPr>
        <p:spPr>
          <a:xfrm>
            <a:off x="460756" y="5826086"/>
            <a:ext cx="6585990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253042"/>
                </a:solidFill>
              </a:rPr>
              <a:t>This was possibly a phishing attempt or another malicious trap.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253042"/>
                </a:solidFill>
              </a:rPr>
              <a:t>Having a little bit of knowledge about these helped me make my decision.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253042"/>
                </a:solidFill>
              </a:rPr>
              <a:t>Being careful and not clicking blindly protected me.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1803514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D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 Real examples people can fall for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5"/>
                </a:solidFill>
              </a:rPr>
              <a:t>These look normal at first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173736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FFF4E8"/>
          </a:solidFill>
          <a:ln w="12700">
            <a:solidFill>
              <a:srgbClr val="FFF4E8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33272" y="1865376"/>
            <a:ext cx="4882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77"/>
                </a:solidFill>
              </a:rPr>
              <a:t>Example A: Comment-link trap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33272" y="2157984"/>
            <a:ext cx="488289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53042"/>
                </a:solidFill>
              </a:rPr>
              <a:t>A page shares exciting or shocking news and says the “full story” is in the comments. The link may lead to a fake page, a harmful site, or a file that should never be opened.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82512" y="1865376"/>
            <a:ext cx="4745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77"/>
                </a:solidFill>
              </a:rPr>
              <a:t>Example B: Suspicious shopping 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82512" y="2157984"/>
            <a:ext cx="47457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53042"/>
                </a:solidFill>
              </a:rPr>
              <a:t>An ad shows something attractive and targeted, such as a favourite book. The page may even look professional, but warning signs like a strange page name or missing profile details should not be ignored.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68680" y="3840480"/>
            <a:ext cx="5212080" cy="1463040"/>
          </a:xfrm>
          <a:prstGeom prst="roundRect">
            <a:avLst>
              <a:gd name="adj" fmla="val 7500"/>
            </a:avLst>
          </a:prstGeom>
          <a:solidFill>
            <a:srgbClr val="EAF8EE"/>
          </a:solidFill>
          <a:ln w="12700">
            <a:solidFill>
              <a:srgbClr val="EAF8EE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33272" y="3968496"/>
            <a:ext cx="4882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77"/>
                </a:solidFill>
              </a:rPr>
              <a:t>Example C: A known person sends a weird link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33272" y="4261104"/>
            <a:ext cx="4882896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53042"/>
                </a:solidFill>
              </a:rPr>
              <a:t>Even if the sender looks familiar, their account may be hacked or impersonated. Never trust a link only because it came from someone you know.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217920" y="3840480"/>
            <a:ext cx="5074920" cy="1463040"/>
          </a:xfrm>
          <a:prstGeom prst="roundRect">
            <a:avLst>
              <a:gd name="adj" fmla="val 7500"/>
            </a:avLst>
          </a:prstGeom>
          <a:solidFill>
            <a:srgbClr val="F7F1FF"/>
          </a:solidFill>
          <a:ln w="12700">
            <a:solidFill>
              <a:srgbClr val="F7F1FF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82512" y="3968496"/>
            <a:ext cx="4745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77"/>
                </a:solidFill>
              </a:rPr>
              <a:t>Example D: Fake support or account warning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82512" y="4261104"/>
            <a:ext cx="4745736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53042"/>
                </a:solidFill>
              </a:rPr>
              <a:t>A message may claim that your account has a problem and ask you to “verify now”. Real companies usually direct users to their official app or website, not random links.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C859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 What to do before clicking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5"/>
                </a:solidFill>
              </a:rPr>
              <a:t>A simple safety checklist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676656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0025" indent="-200025">
              <a:buSzPct val="100000"/>
              <a:buChar char="•"/>
            </a:pPr>
            <a:r>
              <a:rPr lang="en-US" sz="1750" dirty="0">
                <a:solidFill>
                  <a:srgbClr val="253042"/>
                </a:solidFill>
              </a:rPr>
              <a:t>Pause first. Do not click immediately, even if the message looks urgent or interesting.</a:t>
            </a:r>
          </a:p>
          <a:p>
            <a:pPr>
              <a:buSzPct val="100000"/>
            </a:pPr>
            <a:endParaRPr lang="en-US" sz="1750" dirty="0"/>
          </a:p>
          <a:p>
            <a:pPr marL="200025" indent="-200025">
              <a:buSzPct val="100000"/>
              <a:buChar char="•"/>
            </a:pPr>
            <a:r>
              <a:rPr lang="en-US" sz="1750" dirty="0">
                <a:solidFill>
                  <a:srgbClr val="253042"/>
                </a:solidFill>
              </a:rPr>
              <a:t>Check the page name, profile details, and link carefully. Strange names and unusual web addresses are warning signs.</a:t>
            </a:r>
          </a:p>
          <a:p>
            <a:pPr>
              <a:buSzPct val="100000"/>
            </a:pPr>
            <a:endParaRPr lang="en-US" sz="1750" dirty="0"/>
          </a:p>
          <a:p>
            <a:pPr marL="200025" indent="-200025">
              <a:buSzPct val="100000"/>
              <a:buChar char="•"/>
            </a:pPr>
            <a:r>
              <a:rPr lang="en-US" sz="1750" dirty="0">
                <a:solidFill>
                  <a:srgbClr val="253042"/>
                </a:solidFill>
              </a:rPr>
              <a:t>If the topic is news, confirm it from a real news website instead of relying on social media posts.</a:t>
            </a:r>
          </a:p>
          <a:p>
            <a:pPr>
              <a:buSzPct val="100000"/>
            </a:pPr>
            <a:endParaRPr lang="en-US" sz="1750" dirty="0"/>
          </a:p>
          <a:p>
            <a:pPr marL="200025" indent="-200025">
              <a:buSzPct val="100000"/>
              <a:buChar char="•"/>
            </a:pPr>
            <a:r>
              <a:rPr lang="en-US" sz="1750" dirty="0">
                <a:solidFill>
                  <a:srgbClr val="253042"/>
                </a:solidFill>
              </a:rPr>
              <a:t>If the topic is shopping, open the official company website or app yourself rather than using the ad link.</a:t>
            </a:r>
          </a:p>
          <a:p>
            <a:pPr>
              <a:buSzPct val="100000"/>
            </a:pPr>
            <a:endParaRPr lang="en-US" sz="1750" dirty="0"/>
          </a:p>
          <a:p>
            <a:pPr marL="200025" indent="-200025">
              <a:buSzPct val="100000"/>
              <a:buChar char="•"/>
            </a:pPr>
            <a:r>
              <a:rPr lang="en-US" sz="1750" dirty="0">
                <a:solidFill>
                  <a:srgbClr val="253042"/>
                </a:solidFill>
              </a:rPr>
              <a:t>If unsure, ask a trusted family member before clicking.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818120" y="2057399"/>
            <a:ext cx="2606040" cy="1727007"/>
          </a:xfrm>
          <a:prstGeom prst="roundRect">
            <a:avLst>
              <a:gd name="adj" fmla="val 7273"/>
            </a:avLst>
          </a:prstGeom>
          <a:solidFill>
            <a:srgbClr val="EAF8EE"/>
          </a:solidFill>
          <a:ln w="12700">
            <a:solidFill>
              <a:srgbClr val="EAF8EE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82712" y="2185416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77"/>
                </a:solidFill>
              </a:rPr>
              <a:t>Best habit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82712" y="2564891"/>
            <a:ext cx="2276856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53042"/>
                </a:solidFill>
              </a:rPr>
              <a:t>Open trusted websites by typing the address yourself or using the official app. That is safer than following random links.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818120" y="4058724"/>
            <a:ext cx="2606040" cy="1508759"/>
          </a:xfrm>
          <a:prstGeom prst="roundRect">
            <a:avLst>
              <a:gd name="adj" fmla="val 8889"/>
            </a:avLst>
          </a:prstGeom>
          <a:solidFill>
            <a:srgbClr val="FFF4E8"/>
          </a:solidFill>
          <a:ln w="12700">
            <a:solidFill>
              <a:srgbClr val="FFF4E8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82712" y="4186741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77"/>
                </a:solidFill>
              </a:rPr>
              <a:t>If you already clicked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82712" y="4570790"/>
            <a:ext cx="227685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53042"/>
                </a:solidFill>
              </a:rPr>
              <a:t>Close the page, do not enter details, do not download files, and ask for help quickly.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C859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DE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3C1637-0E68-5DEE-1936-47B3F74ED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2551C5-9487-FCB9-8B41-8FD6635A1D2D}"/>
              </a:ext>
            </a:extLst>
          </p:cNvPr>
          <p:cNvSpPr/>
          <p:nvPr/>
        </p:nvSpPr>
        <p:spPr>
          <a:xfrm>
            <a:off x="640079" y="640080"/>
            <a:ext cx="893524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 Basic Protection Steps Before Problems Happen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9E6BBBE-9C3C-463B-02FB-B420BCDD559D}"/>
              </a:ext>
            </a:extLst>
          </p:cNvPr>
          <p:cNvSpPr/>
          <p:nvPr/>
        </p:nvSpPr>
        <p:spPr>
          <a:xfrm>
            <a:off x="866092" y="2091043"/>
            <a:ext cx="676656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0025" indent="-200025">
              <a:buSzPct val="100000"/>
              <a:buChar char="•"/>
            </a:pPr>
            <a:r>
              <a:rPr lang="en-US" sz="1750" dirty="0"/>
              <a:t>Turn on multi-factor authentication</a:t>
            </a:r>
          </a:p>
          <a:p>
            <a:pPr>
              <a:buSzPct val="100000"/>
            </a:pPr>
            <a:endParaRPr lang="en-US" sz="1750" dirty="0"/>
          </a:p>
          <a:p>
            <a:pPr marL="200025" indent="-200025">
              <a:buSzPct val="100000"/>
              <a:buChar char="•"/>
            </a:pPr>
            <a:r>
              <a:rPr lang="en-US" sz="1750" dirty="0"/>
              <a:t>Make accounts private</a:t>
            </a:r>
          </a:p>
          <a:p>
            <a:pPr>
              <a:buSzPct val="100000"/>
            </a:pPr>
            <a:endParaRPr lang="en-US" sz="1750" dirty="0"/>
          </a:p>
          <a:p>
            <a:pPr marL="200025" indent="-200025">
              <a:buSzPct val="100000"/>
              <a:buChar char="•"/>
            </a:pPr>
            <a:r>
              <a:rPr lang="en-US" sz="1750" dirty="0"/>
              <a:t>Do not use overly revealing profile or cover photos</a:t>
            </a:r>
          </a:p>
          <a:p>
            <a:pPr>
              <a:buSzPct val="100000"/>
            </a:pPr>
            <a:endParaRPr lang="en-US" sz="1750" dirty="0"/>
          </a:p>
          <a:p>
            <a:pPr marL="200025" indent="-200025">
              <a:buSzPct val="100000"/>
              <a:buChar char="•"/>
            </a:pPr>
            <a:r>
              <a:rPr lang="en-US" sz="1750" dirty="0"/>
              <a:t>Use strong, long, unique passwords</a:t>
            </a:r>
          </a:p>
          <a:p>
            <a:pPr>
              <a:buSzPct val="100000"/>
            </a:pPr>
            <a:endParaRPr lang="en-US" sz="1750" dirty="0"/>
          </a:p>
          <a:p>
            <a:pPr marL="200025" indent="-200025">
              <a:buSzPct val="100000"/>
              <a:buChar char="•"/>
            </a:pPr>
            <a:r>
              <a:rPr lang="en-US" sz="1750" dirty="0"/>
              <a:t>Do not reuse the same password everywhere</a:t>
            </a:r>
          </a:p>
          <a:p>
            <a:pPr>
              <a:buSzPct val="100000"/>
            </a:pPr>
            <a:endParaRPr lang="en-US" sz="1750" dirty="0"/>
          </a:p>
          <a:p>
            <a:pPr marL="200025" indent="-200025">
              <a:buSzPct val="100000"/>
              <a:buChar char="•"/>
            </a:pPr>
            <a:r>
              <a:rPr lang="en-US" sz="1750" dirty="0"/>
              <a:t>Keep apps and phone updated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26DD301-D86E-57DA-7E6C-96E680E6CBE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59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ABBB37B-8F17-A6CF-8438-5853C02B1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784" y="1097280"/>
            <a:ext cx="5062268" cy="506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505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E5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86248C-DF45-409D-8585-AA9B3D4E3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D7C04A3-F07C-BB16-A2EC-7CC9ECE73BF4}"/>
              </a:ext>
            </a:extLst>
          </p:cNvPr>
          <p:cNvSpPr/>
          <p:nvPr/>
        </p:nvSpPr>
        <p:spPr>
          <a:xfrm>
            <a:off x="640080" y="640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 Important things to remember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A129203-6DE3-129E-5242-605E53625B50}"/>
              </a:ext>
            </a:extLst>
          </p:cNvPr>
          <p:cNvSpPr/>
          <p:nvPr/>
        </p:nvSpPr>
        <p:spPr>
          <a:xfrm>
            <a:off x="3043773" y="2054006"/>
            <a:ext cx="2606040" cy="1727007"/>
          </a:xfrm>
          <a:prstGeom prst="roundRect">
            <a:avLst>
              <a:gd name="adj" fmla="val 7273"/>
            </a:avLst>
          </a:prstGeom>
          <a:solidFill>
            <a:srgbClr val="EAF8EE"/>
          </a:solidFill>
          <a:ln w="12700">
            <a:solidFill>
              <a:srgbClr val="EAF8EE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41BBDEB-883C-F3B8-8B5B-BB7B927DBC4B}"/>
              </a:ext>
            </a:extLst>
          </p:cNvPr>
          <p:cNvSpPr/>
          <p:nvPr/>
        </p:nvSpPr>
        <p:spPr>
          <a:xfrm>
            <a:off x="3208365" y="2182023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77"/>
                </a:solidFill>
              </a:rPr>
              <a:t>## 1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0C1DD3E-D7C2-C521-D83C-CB25235A5A06}"/>
              </a:ext>
            </a:extLst>
          </p:cNvPr>
          <p:cNvSpPr/>
          <p:nvPr/>
        </p:nvSpPr>
        <p:spPr>
          <a:xfrm>
            <a:off x="3208365" y="2561498"/>
            <a:ext cx="2276856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53042"/>
                </a:solidFill>
              </a:rPr>
              <a:t>Not all news on social media is 100 % TRUE.</a:t>
            </a:r>
            <a:endParaRPr lang="en-US" sz="15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334572D-99B5-DBE7-CDE9-06BFB8BBD8CB}"/>
              </a:ext>
            </a:extLst>
          </p:cNvPr>
          <p:cNvSpPr/>
          <p:nvPr/>
        </p:nvSpPr>
        <p:spPr>
          <a:xfrm>
            <a:off x="3043773" y="4055331"/>
            <a:ext cx="2606040" cy="1508759"/>
          </a:xfrm>
          <a:prstGeom prst="roundRect">
            <a:avLst>
              <a:gd name="adj" fmla="val 8889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FFF4E8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9A12DE8-C177-A078-03C7-738C291F4C71}"/>
              </a:ext>
            </a:extLst>
          </p:cNvPr>
          <p:cNvSpPr/>
          <p:nvPr/>
        </p:nvSpPr>
        <p:spPr>
          <a:xfrm>
            <a:off x="3208365" y="4183348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77"/>
                </a:solidFill>
              </a:rPr>
              <a:t>## 2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9DE3FEC-A127-58B3-8AAF-CA60A8F70409}"/>
              </a:ext>
            </a:extLst>
          </p:cNvPr>
          <p:cNvSpPr/>
          <p:nvPr/>
        </p:nvSpPr>
        <p:spPr>
          <a:xfrm>
            <a:off x="3208365" y="4567397"/>
            <a:ext cx="227685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53042"/>
                </a:solidFill>
              </a:rPr>
              <a:t>If anything is too good to be true, it probably is.</a:t>
            </a:r>
            <a:endParaRPr lang="en-US" sz="155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32CC7F3-9F3E-7EE3-3CAD-2B79F50A8CD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59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58502224-7682-BDA6-7241-70AB66058B7E}"/>
              </a:ext>
            </a:extLst>
          </p:cNvPr>
          <p:cNvSpPr/>
          <p:nvPr/>
        </p:nvSpPr>
        <p:spPr>
          <a:xfrm>
            <a:off x="6080760" y="2057399"/>
            <a:ext cx="2606040" cy="1727007"/>
          </a:xfrm>
          <a:prstGeom prst="roundRect">
            <a:avLst>
              <a:gd name="adj" fmla="val 7273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EAF8EE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7B3EFCEA-E77B-B6E9-267D-EB24378A7E8E}"/>
              </a:ext>
            </a:extLst>
          </p:cNvPr>
          <p:cNvSpPr/>
          <p:nvPr/>
        </p:nvSpPr>
        <p:spPr>
          <a:xfrm>
            <a:off x="6245352" y="2185416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77"/>
                </a:solidFill>
              </a:rPr>
              <a:t>## 3</a:t>
            </a:r>
            <a:endParaRPr lang="en-US" sz="16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E95C54C2-E881-35E0-399D-7269A58CCEDC}"/>
              </a:ext>
            </a:extLst>
          </p:cNvPr>
          <p:cNvSpPr/>
          <p:nvPr/>
        </p:nvSpPr>
        <p:spPr>
          <a:xfrm>
            <a:off x="6245352" y="2564891"/>
            <a:ext cx="2276856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53042"/>
                </a:solidFill>
              </a:rPr>
              <a:t>If there’s no information on the post itself and they want to redirect you, RED FLAG !</a:t>
            </a:r>
            <a:endParaRPr lang="en-US" sz="155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D44D62C4-1C4C-6E46-9CDC-E3429BC517D3}"/>
              </a:ext>
            </a:extLst>
          </p:cNvPr>
          <p:cNvSpPr/>
          <p:nvPr/>
        </p:nvSpPr>
        <p:spPr>
          <a:xfrm>
            <a:off x="6080760" y="4058724"/>
            <a:ext cx="2606040" cy="1508759"/>
          </a:xfrm>
          <a:prstGeom prst="roundRect">
            <a:avLst>
              <a:gd name="adj" fmla="val 8889"/>
            </a:avLst>
          </a:prstGeom>
          <a:solidFill>
            <a:srgbClr val="FFF4E8"/>
          </a:solidFill>
          <a:ln w="12700">
            <a:solidFill>
              <a:srgbClr val="FFF4E8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6804C25B-F798-1A50-F812-EC4617CD0478}"/>
              </a:ext>
            </a:extLst>
          </p:cNvPr>
          <p:cNvSpPr/>
          <p:nvPr/>
        </p:nvSpPr>
        <p:spPr>
          <a:xfrm>
            <a:off x="6245352" y="4186741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77"/>
                </a:solidFill>
              </a:rPr>
              <a:t>## 4</a:t>
            </a:r>
            <a:endParaRPr lang="en-US" sz="16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3B890541-C508-B78E-F480-6A9AB1E9DBEB}"/>
              </a:ext>
            </a:extLst>
          </p:cNvPr>
          <p:cNvSpPr/>
          <p:nvPr/>
        </p:nvSpPr>
        <p:spPr>
          <a:xfrm>
            <a:off x="6245352" y="4570790"/>
            <a:ext cx="227685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53042"/>
                </a:solidFill>
              </a:rPr>
              <a:t>Don’t make social media your only source of news. This spreads misinformation.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1524066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B0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 Final message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5"/>
                </a:solidFill>
              </a:rPr>
              <a:t>A safe habit is better than a quick click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0120" y="1737360"/>
            <a:ext cx="1014984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240280"/>
            <a:ext cx="932688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53042"/>
                </a:solidFill>
              </a:rPr>
              <a:t>If something online feels strange, rushed, or too good to be true, stop and check first.</a:t>
            </a:r>
            <a:endParaRPr lang="en-US" sz="2100" dirty="0"/>
          </a:p>
          <a:p>
            <a:pPr marL="0" indent="0" algn="ctr">
              <a:buNone/>
            </a:pPr>
            <a:endParaRPr lang="en-US" sz="2100" dirty="0"/>
          </a:p>
          <a:p>
            <a:pPr marL="0" indent="0" algn="ctr">
              <a:buNone/>
            </a:pPr>
            <a:r>
              <a:rPr lang="en-US" sz="2100" u="sng" dirty="0">
                <a:solidFill>
                  <a:srgbClr val="253042"/>
                </a:solidFill>
              </a:rPr>
              <a:t>The safest rule is simple:</a:t>
            </a:r>
            <a:endParaRPr lang="en-US" sz="2100" u="sng" dirty="0"/>
          </a:p>
          <a:p>
            <a:pPr marL="0" indent="0" algn="ctr">
              <a:buNone/>
            </a:pPr>
            <a:endParaRPr lang="en-US" sz="21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253042"/>
                </a:solidFill>
              </a:rPr>
              <a:t>Before clicking a link</a:t>
            </a:r>
            <a:r>
              <a:rPr lang="en-US" sz="2100" dirty="0">
                <a:solidFill>
                  <a:srgbClr val="253042"/>
                </a:solidFill>
              </a:rPr>
              <a:t>, make sure the page is real, the message makes sense, and the information can be confirmed from a trusted source.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258568" y="5662379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1F3B77"/>
                </a:solidFill>
                <a:latin typeface="AMCAP Eternal" panose="02000503030000020004" pitchFamily="2" charset="0"/>
              </a:rPr>
              <a:t>Thank you</a:t>
            </a:r>
            <a:endParaRPr lang="en-US" sz="6600" dirty="0">
              <a:latin typeface="AMCAP Eternal" panose="02000503030000020004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C859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1030</Words>
  <Application>Microsoft Office PowerPoint</Application>
  <PresentationFormat>Widescreen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AMCAP Eternal</vt:lpstr>
      <vt:lpstr>Aptos</vt:lpstr>
      <vt:lpstr>Arial</vt:lpstr>
      <vt:lpstr>Bahnschrift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Stay Safe on Social Media</dc:title>
  <dc:subject>Phishing awareness for parents</dc:subject>
  <dc:creator>OpenAI</dc:creator>
  <cp:lastModifiedBy>Anindya Sen</cp:lastModifiedBy>
  <cp:revision>3</cp:revision>
  <dcterms:created xsi:type="dcterms:W3CDTF">2026-03-29T18:09:11Z</dcterms:created>
  <dcterms:modified xsi:type="dcterms:W3CDTF">2026-03-29T22:00:48Z</dcterms:modified>
</cp:coreProperties>
</file>